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Helvetica World" charset="1" panose="020B0500040000020004"/>
      <p:regular r:id="rId16"/>
    </p:embeddedFont>
    <p:embeddedFont>
      <p:font typeface="Helvetica World Italics" charset="1" panose="020B0500040000090004"/>
      <p:regular r:id="rId17"/>
    </p:embeddedFont>
    <p:embeddedFont>
      <p:font typeface="Poppins Bold" charset="1" panose="00000800000000000000"/>
      <p:regular r:id="rId18"/>
    </p:embeddedFont>
    <p:embeddedFont>
      <p:font typeface="Poppin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18" r="0" b="-685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60002" y="8551330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4080430"/>
            <a:ext cx="18288000" cy="171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0"/>
              </a:lnSpc>
            </a:pPr>
            <a:r>
              <a:rPr lang="en-US" sz="7038" spc="-24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Computational Exploration of Analytical and Iterative CT Reconstruction Methods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015221"/>
            <a:ext cx="9125527" cy="536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0"/>
              </a:lnSpc>
              <a:spcBef>
                <a:spcPct val="0"/>
              </a:spcBef>
            </a:pPr>
            <a:r>
              <a:rPr lang="en-US" sz="2893" i="true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Imaging 2 - Final 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722192"/>
            <a:ext cx="11560614" cy="536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0"/>
              </a:lnSpc>
              <a:spcBef>
                <a:spcPct val="0"/>
              </a:spcBef>
            </a:pPr>
            <a:r>
              <a:rPr lang="en-US" sz="2893" i="true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Presented to : Prof. AbdEl-Monem El-Sharkawy , Eng. Aya Eyad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62025"/>
            <a:ext cx="1318425" cy="576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61"/>
              </a:lnSpc>
              <a:spcBef>
                <a:spcPct val="0"/>
              </a:spcBef>
            </a:pPr>
            <a:r>
              <a:rPr lang="en-US" sz="3043" i="true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Team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0771" y="3645129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9" y="0"/>
                </a:lnTo>
                <a:lnTo>
                  <a:pt x="1399299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40771" y="1603067"/>
            <a:ext cx="4914233" cy="96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1"/>
              </a:lnSpc>
            </a:pPr>
            <a:r>
              <a:rPr lang="en-US" sz="8426" spc="-29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Motivation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40771" y="5048250"/>
            <a:ext cx="14811969" cy="277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96"/>
              </a:lnSpc>
              <a:spcBef>
                <a:spcPct val="0"/>
              </a:spcBef>
            </a:pPr>
            <a:r>
              <a:rPr lang="en-US" b="true" sz="31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  <a:r>
              <a:rPr lang="en-US" b="true" sz="31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. Exploring reconstruction techniques and their limitations</a:t>
            </a:r>
          </a:p>
          <a:p>
            <a:pPr algn="just">
              <a:lnSpc>
                <a:spcPts val="4396"/>
              </a:lnSpc>
              <a:spcBef>
                <a:spcPct val="0"/>
              </a:spcBef>
            </a:pPr>
          </a:p>
          <a:p>
            <a:pPr algn="just">
              <a:lnSpc>
                <a:spcPts val="4396"/>
              </a:lnSpc>
              <a:spcBef>
                <a:spcPct val="0"/>
              </a:spcBef>
            </a:pPr>
            <a:r>
              <a:rPr lang="en-US" b="true" sz="31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2. Discovering Iterative Solutions: ART , SART</a:t>
            </a:r>
          </a:p>
          <a:p>
            <a:pPr algn="just">
              <a:lnSpc>
                <a:spcPts val="4396"/>
              </a:lnSpc>
              <a:spcBef>
                <a:spcPct val="0"/>
              </a:spcBef>
            </a:pPr>
          </a:p>
          <a:p>
            <a:pPr algn="just">
              <a:lnSpc>
                <a:spcPts val="4396"/>
              </a:lnSpc>
              <a:spcBef>
                <a:spcPct val="0"/>
              </a:spcBef>
            </a:pPr>
            <a:r>
              <a:rPr lang="en-US" b="true" sz="31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3.  Acquisition settings for iterative solutions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942568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18603" y="4588783"/>
            <a:ext cx="11450795" cy="4641111"/>
          </a:xfrm>
          <a:custGeom>
            <a:avLst/>
            <a:gdLst/>
            <a:ahLst/>
            <a:cxnLst/>
            <a:rect r="r" b="b" t="t" l="l"/>
            <a:pathLst>
              <a:path h="4641111" w="11450795">
                <a:moveTo>
                  <a:pt x="0" y="0"/>
                </a:moveTo>
                <a:lnTo>
                  <a:pt x="11450794" y="0"/>
                </a:lnTo>
                <a:lnTo>
                  <a:pt x="11450794" y="4641110"/>
                </a:lnTo>
                <a:lnTo>
                  <a:pt x="0" y="46411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32" r="0" b="-73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61486" y="912329"/>
            <a:ext cx="4914233" cy="96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1"/>
              </a:lnSpc>
            </a:pPr>
            <a:r>
              <a:rPr lang="en-US" sz="8426" spc="-29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Trial 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839751"/>
            <a:ext cx="16567883" cy="112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 Case:</a:t>
            </a:r>
          </a:p>
          <a:p>
            <a:pPr algn="l" marL="678027" indent="-339013" lvl="1">
              <a:lnSpc>
                <a:spcPts val="4396"/>
              </a:lnSpc>
              <a:spcBef>
                <a:spcPct val="0"/>
              </a:spcBef>
              <a:buFont typeface="Arial"/>
              <a:buChar char="•"/>
            </a:pP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180 Projections, 180 Degrees, Consistent Step Angles, No Noise, 10 SART iterations.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049828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93371" y="4588783"/>
            <a:ext cx="11301259" cy="4803035"/>
          </a:xfrm>
          <a:custGeom>
            <a:avLst/>
            <a:gdLst/>
            <a:ahLst/>
            <a:cxnLst/>
            <a:rect r="r" b="b" t="t" l="l"/>
            <a:pathLst>
              <a:path h="4803035" w="11301259">
                <a:moveTo>
                  <a:pt x="0" y="0"/>
                </a:moveTo>
                <a:lnTo>
                  <a:pt x="11301258" y="0"/>
                </a:lnTo>
                <a:lnTo>
                  <a:pt x="11301258" y="4803035"/>
                </a:lnTo>
                <a:lnTo>
                  <a:pt x="0" y="48030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36254" y="829503"/>
            <a:ext cx="4914233" cy="96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1"/>
              </a:lnSpc>
            </a:pPr>
            <a:r>
              <a:rPr lang="en-US" sz="8426" spc="-29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Trial 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839751"/>
            <a:ext cx="16742550" cy="112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Trial Case:</a:t>
            </a:r>
          </a:p>
          <a:p>
            <a:pPr algn="l" marL="678027" indent="-339013" lvl="1">
              <a:lnSpc>
                <a:spcPts val="43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100 Projections</a:t>
            </a: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180 Degrees, Consistent Step Angles, No Noise, 10 SART iterations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4588783"/>
            <a:ext cx="11301259" cy="4732402"/>
          </a:xfrm>
          <a:custGeom>
            <a:avLst/>
            <a:gdLst/>
            <a:ahLst/>
            <a:cxnLst/>
            <a:rect r="r" b="b" t="t" l="l"/>
            <a:pathLst>
              <a:path h="4732402" w="11301259">
                <a:moveTo>
                  <a:pt x="0" y="0"/>
                </a:moveTo>
                <a:lnTo>
                  <a:pt x="11301258" y="0"/>
                </a:lnTo>
                <a:lnTo>
                  <a:pt x="11301258" y="4732402"/>
                </a:lnTo>
                <a:lnTo>
                  <a:pt x="0" y="47324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29089"/>
            <a:ext cx="4914233" cy="96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1"/>
              </a:lnSpc>
            </a:pPr>
            <a:r>
              <a:rPr lang="en-US" sz="8426" spc="-29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Trial 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839751"/>
            <a:ext cx="16230600" cy="1120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Trial Case:</a:t>
            </a:r>
          </a:p>
          <a:p>
            <a:pPr algn="l" marL="678027" indent="-339013" lvl="1">
              <a:lnSpc>
                <a:spcPts val="4396"/>
              </a:lnSpc>
              <a:spcBef>
                <a:spcPct val="0"/>
              </a:spcBef>
              <a:buFont typeface="Arial"/>
              <a:buChar char="•"/>
            </a:pP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180 Projections, 180 Degrees, </a:t>
            </a:r>
            <a:r>
              <a:rPr lang="en-US" b="true" sz="31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Variable Step Angles</a:t>
            </a: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No Noise, 10 SART iterations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2049828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4921528"/>
            <a:ext cx="11301259" cy="4817162"/>
          </a:xfrm>
          <a:custGeom>
            <a:avLst/>
            <a:gdLst/>
            <a:ahLst/>
            <a:cxnLst/>
            <a:rect r="r" b="b" t="t" l="l"/>
            <a:pathLst>
              <a:path h="4817162" w="11301259">
                <a:moveTo>
                  <a:pt x="0" y="0"/>
                </a:moveTo>
                <a:lnTo>
                  <a:pt x="11301258" y="0"/>
                </a:lnTo>
                <a:lnTo>
                  <a:pt x="11301258" y="4817162"/>
                </a:lnTo>
                <a:lnTo>
                  <a:pt x="0" y="4817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29089"/>
            <a:ext cx="4914233" cy="96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1"/>
              </a:lnSpc>
            </a:pPr>
            <a:r>
              <a:rPr lang="en-US" sz="8426" spc="-29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Trial 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839751"/>
            <a:ext cx="16230600" cy="1672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Trial Case:</a:t>
            </a:r>
          </a:p>
          <a:p>
            <a:pPr algn="l" marL="678027" indent="-339013" lvl="1">
              <a:lnSpc>
                <a:spcPts val="4396"/>
              </a:lnSpc>
              <a:spcBef>
                <a:spcPct val="0"/>
              </a:spcBef>
              <a:buFont typeface="Arial"/>
              <a:buChar char="•"/>
            </a:pP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180 Projections, 180 Degrees, Consistent Step Angles</a:t>
            </a:r>
            <a:r>
              <a:rPr lang="en-US" b="true" sz="31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, Gaussian Noise SNR 30dB</a:t>
            </a: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10 SART iterations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2049828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4912633"/>
            <a:ext cx="11301259" cy="4817162"/>
          </a:xfrm>
          <a:custGeom>
            <a:avLst/>
            <a:gdLst/>
            <a:ahLst/>
            <a:cxnLst/>
            <a:rect r="r" b="b" t="t" l="l"/>
            <a:pathLst>
              <a:path h="4817162" w="11301259">
                <a:moveTo>
                  <a:pt x="0" y="0"/>
                </a:moveTo>
                <a:lnTo>
                  <a:pt x="11301258" y="0"/>
                </a:lnTo>
                <a:lnTo>
                  <a:pt x="11301258" y="4817161"/>
                </a:lnTo>
                <a:lnTo>
                  <a:pt x="0" y="48171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29089"/>
            <a:ext cx="4914233" cy="96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1"/>
              </a:lnSpc>
            </a:pPr>
            <a:r>
              <a:rPr lang="en-US" sz="8426" spc="-29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Trial 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839751"/>
            <a:ext cx="16230600" cy="1672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96"/>
              </a:lnSpc>
            </a:pPr>
            <a:r>
              <a:rPr lang="en-US" sz="314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Trial Case:</a:t>
            </a:r>
          </a:p>
          <a:p>
            <a:pPr algn="l" marL="678027" indent="-339013" lvl="1">
              <a:lnSpc>
                <a:spcPts val="4396"/>
              </a:lnSpc>
              <a:spcBef>
                <a:spcPct val="0"/>
              </a:spcBef>
              <a:buFont typeface="Arial"/>
              <a:buChar char="•"/>
            </a:pP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180 Projections, 180 Degrees, </a:t>
            </a:r>
            <a:r>
              <a:rPr lang="en-US" b="true" sz="31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Variable Step Angles, Gaussian Noise SNR 30dB</a:t>
            </a: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10 SART iterations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2049828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29089"/>
            <a:ext cx="7605773" cy="96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1"/>
              </a:lnSpc>
            </a:pPr>
            <a:r>
              <a:rPr lang="en-US" sz="8426" spc="-29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Extra Features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839751"/>
            <a:ext cx="16230600" cy="6092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8027" indent="-339013" lvl="1">
              <a:lnSpc>
                <a:spcPts val="4396"/>
              </a:lnSpc>
              <a:buFont typeface="Arial"/>
              <a:buChar char="•"/>
            </a:pP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Multiple Phantom Options as (e.g. Free hand draw, Geometric Shapes )</a:t>
            </a:r>
          </a:p>
          <a:p>
            <a:pPr algn="l">
              <a:lnSpc>
                <a:spcPts val="4396"/>
              </a:lnSpc>
            </a:pPr>
          </a:p>
          <a:p>
            <a:pPr algn="l" marL="678027" indent="-339013" lvl="1">
              <a:lnSpc>
                <a:spcPts val="4396"/>
              </a:lnSpc>
              <a:buFont typeface="Arial"/>
              <a:buChar char="•"/>
            </a:pP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Multiple Color Schemas (e.g.  Greyscale, Hot)</a:t>
            </a:r>
          </a:p>
          <a:p>
            <a:pPr algn="l">
              <a:lnSpc>
                <a:spcPts val="4396"/>
              </a:lnSpc>
            </a:pPr>
          </a:p>
          <a:p>
            <a:pPr algn="l" marL="678027" indent="-339013" lvl="1">
              <a:lnSpc>
                <a:spcPts val="4396"/>
              </a:lnSpc>
              <a:buFont typeface="Arial"/>
              <a:buChar char="•"/>
            </a:pP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Multiple Filtering Options (e.g. Ramp, Shepp-Loggan, Cosine)</a:t>
            </a:r>
          </a:p>
          <a:p>
            <a:pPr algn="l">
              <a:lnSpc>
                <a:spcPts val="4396"/>
              </a:lnSpc>
            </a:pPr>
          </a:p>
          <a:p>
            <a:pPr algn="l" marL="678027" indent="-339013" lvl="1">
              <a:lnSpc>
                <a:spcPts val="4396"/>
              </a:lnSpc>
              <a:buFont typeface="Arial"/>
              <a:buChar char="•"/>
            </a:pP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Fourier Reconstruction Method</a:t>
            </a:r>
          </a:p>
          <a:p>
            <a:pPr algn="l">
              <a:lnSpc>
                <a:spcPts val="4396"/>
              </a:lnSpc>
            </a:pPr>
          </a:p>
          <a:p>
            <a:pPr algn="l" marL="678027" indent="-339013" lvl="1">
              <a:lnSpc>
                <a:spcPts val="4396"/>
              </a:lnSpc>
              <a:buFont typeface="Arial"/>
              <a:buChar char="•"/>
            </a:pP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Projection and Sinogram Simulator</a:t>
            </a:r>
          </a:p>
          <a:p>
            <a:pPr algn="l">
              <a:lnSpc>
                <a:spcPts val="4396"/>
              </a:lnSpc>
            </a:pPr>
          </a:p>
          <a:p>
            <a:pPr algn="l" marL="678027" indent="-339013" lvl="1">
              <a:lnSpc>
                <a:spcPts val="4396"/>
              </a:lnSpc>
              <a:buFont typeface="Arial"/>
              <a:buChar char="•"/>
            </a:pPr>
            <a:r>
              <a:rPr lang="en-US" sz="3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Quality Metrics (e.g. RMSE, PSNR (dB) )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2049828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306588"/>
            <a:ext cx="1399298" cy="628412"/>
          </a:xfrm>
          <a:custGeom>
            <a:avLst/>
            <a:gdLst/>
            <a:ahLst/>
            <a:cxnLst/>
            <a:rect r="r" b="b" t="t" l="l"/>
            <a:pathLst>
              <a:path h="628412" w="1399298">
                <a:moveTo>
                  <a:pt x="0" y="0"/>
                </a:moveTo>
                <a:lnTo>
                  <a:pt x="1399298" y="0"/>
                </a:lnTo>
                <a:lnTo>
                  <a:pt x="1399298" y="628413"/>
                </a:lnTo>
                <a:lnTo>
                  <a:pt x="0" y="628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95764"/>
            <a:ext cx="9808947" cy="96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1"/>
              </a:lnSpc>
            </a:pPr>
            <a:r>
              <a:rPr lang="en-US" sz="8426" spc="-29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Take Home Message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74961" y="4010251"/>
            <a:ext cx="13938078" cy="316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33"/>
              </a:lnSpc>
            </a:pPr>
            <a:r>
              <a:rPr lang="en-US" sz="4711" spc="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Iterative methods overperform Filtered Back-projection when the spacing between angles of projection is not uniform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518" r="0" b="-6851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70393" y="2247994"/>
            <a:ext cx="8347213" cy="5791012"/>
            <a:chOff x="0" y="0"/>
            <a:chExt cx="11129617" cy="772134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552450"/>
              <a:ext cx="11129617" cy="2421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722"/>
                </a:lnSpc>
              </a:pPr>
              <a:r>
                <a:rPr lang="en-US" sz="14653" spc="-51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Thank You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281117" y="4021416"/>
              <a:ext cx="5962769" cy="3699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99"/>
                </a:lnSpc>
              </a:pPr>
              <a:r>
                <a:rPr lang="en-US" sz="3999" spc="-13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Kareem Abdelnabi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-13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Louai Khaled </a:t>
              </a:r>
            </a:p>
            <a:p>
              <a:pPr algn="ctr">
                <a:lnSpc>
                  <a:spcPts val="5599"/>
                </a:lnSpc>
              </a:pPr>
              <a:r>
                <a:rPr lang="en-US" sz="3999" spc="-13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Youssef Abo El Ela</a:t>
              </a:r>
            </a:p>
            <a:p>
              <a:pPr algn="ctr">
                <a:lnSpc>
                  <a:spcPts val="5599"/>
                </a:lnSpc>
                <a:spcBef>
                  <a:spcPct val="0"/>
                </a:spcBef>
              </a:pPr>
              <a:r>
                <a:rPr lang="en-US" sz="3999" spc="-139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Ali Younis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DAHIW5BGFhw</dc:identifier>
  <dcterms:modified xsi:type="dcterms:W3CDTF">2011-08-01T06:04:30Z</dcterms:modified>
  <cp:revision>1</cp:revision>
  <dc:title>Imaging 2 Presentation</dc:title>
</cp:coreProperties>
</file>